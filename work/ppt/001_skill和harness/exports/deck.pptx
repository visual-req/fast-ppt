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PRESENTATION DECK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1828800"/>
            <a:ext cx="8321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从 Skill 到 Harness 工程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914400" y="3017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从提示词优化走向可执行、可验证、可回归的 Agent 工程体系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14400" y="5715000"/>
            <a:ext cx="182880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128" y="5797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风格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24128" y="59527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Consulting Blue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971800" y="5715000"/>
            <a:ext cx="182880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81528" y="5797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讲师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081528" y="59527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Stephen Wang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0" y="5715000"/>
            <a:ext cx="182880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38928" y="5797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日期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138928" y="59527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2026-06-17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目录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第 1 章 从 Prompt 到 Harness 的演进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先回答：为什么今天只优化提示词已经不够。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为什么今天要从“写提示词”升级到“做工程”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提示词工程：先把问题问准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上下文工程：再把材料组织对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三代工程的演进关系图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三代工程的差异到底在哪里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78992"/>
          <a:ext cx="10911535" cy="914400"/>
        </p:xfrm>
        <a:graphic>
          <a:graphicData uri="http://schemas.openxmlformats.org/drawingml/2006/table">
            <a:tbl>
              <a:tblPr/>
              <a:tblGrid>
                <a:gridCol w="2727884"/>
                <a:gridCol w="2727884"/>
                <a:gridCol w="2727884"/>
                <a:gridCol w="27278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维度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提示词工程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上下文工程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闭环工程（Harness）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核心问题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怎么问更准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给什么信息更全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怎样稳定执行与验证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关注对象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单轮提示词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材料与规则组合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任务流程与系统闭环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适合任务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简单问答、单步生成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多材料理解、复杂生成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多步骤、可回归、强约束任务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典型风险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语义歧义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信息过载 / 上下文污染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流程失控 / 质量不可验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什么时候一个任务该升级到 Harness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从单轮生成到闭环执行，任务形态发生了什么变化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为什么“生成网页 PPT”是一个典型 Harness 任务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课堂讨论：三代工程分别解决什么核心问题？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本章小结：先学会区分三代工程，再决定该用哪一代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Prompt 解决“怎么问”，Context 解决“怎么给材料”，Harness 解决“怎么稳定交付”。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不是所有任务都要上 Harness，但复杂、多步骤、强约束任务最终都会需要它。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升级不是把提示词写长，而是把输入、流程、工具、质量门禁都纳入设计。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74920" y="1051560"/>
            <a:ext cx="3163824" cy="5074920"/>
          </a:xfrm>
          <a:prstGeom prst="roundRect">
            <a:avLst>
              <a:gd name="adj" fmla="val 520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带走结论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9512" y="1527048"/>
            <a:ext cx="28346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先判断任务复杂度，再决定工程层级。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03336" y="1051560"/>
            <a:ext cx="3163824" cy="5074920"/>
          </a:xfrm>
          <a:prstGeom prst="roundRect">
            <a:avLst>
              <a:gd name="adj" fmla="val 520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928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带走结论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67928" y="1527048"/>
            <a:ext cx="28346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越靠近真实交付，越需要 Harness。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第 2 章 Skill 工程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不是一份 prompt，而是一个可复用能力单元。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 是什么，它先解决什么问题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一个 Skill 至少要把哪几件事讲清楚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从触发到产出：Skill 的执行路径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`proposal-generator` 的 Skill 设计骨架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工作区为什么要分成 input、ppt、assets 三类目录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提示词体系为什么要拆成总入口 + 四类子 prompt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为什么一定要先做 outline，再做 detail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 的质量闭环：大纲质检与详细页质检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7E3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456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3943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874520"/>
            <a:ext cx="2618156" cy="3337560"/>
          </a:xfrm>
          <a:prstGeom prst="roundRect">
            <a:avLst>
              <a:gd name="adj" fmla="val 628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029968"/>
            <a:ext cx="23621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大纲质检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2359152"/>
            <a:ext cx="23621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先检查结构是否正确，再决定有没有资格进入详细页阶段。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" y="2834640"/>
            <a:ext cx="2362124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检查类型是否正确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检查章节链路是否完整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检查图页比例是否达标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096" y="4809744"/>
            <a:ext cx="2362124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882896"/>
            <a:ext cx="2288972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门禁：通过后才能进入 detail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4902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389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04540" y="1874520"/>
            <a:ext cx="2618156" cy="3337560"/>
          </a:xfrm>
          <a:prstGeom prst="roundRect">
            <a:avLst>
              <a:gd name="adj" fmla="val 628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32556" y="2029968"/>
            <a:ext cx="23621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进入详细页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32556" y="2359152"/>
            <a:ext cx="23621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只有 outline 通过后，才开始生成 deck 与 slides，而不是边写边碰运气。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32556" y="2834640"/>
            <a:ext cx="2362124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通过才进入详细页生成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未通过就回到 outline 回改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32556" y="4809744"/>
            <a:ext cx="2362124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9132" y="4882896"/>
            <a:ext cx="2288972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动作：未通过则回到 outline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348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835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69000" y="1874520"/>
            <a:ext cx="2618156" cy="3337560"/>
          </a:xfrm>
          <a:prstGeom prst="roundRect">
            <a:avLst>
              <a:gd name="adj" fmla="val 628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7016" y="2029968"/>
            <a:ext cx="23621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详细页质检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97016" y="2359152"/>
            <a:ext cx="23621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把可读性、字段合法性、素材真实存在一起纳入检查，而不是只看能不能打开。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97016" y="2834640"/>
            <a:ext cx="2362124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检查字段完整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检查素材落盘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检查布局与可读性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97016" y="4809744"/>
            <a:ext cx="2362124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3592" y="4882896"/>
            <a:ext cx="2288972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门禁：通过后才允许交付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077945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32809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933459" y="1874520"/>
            <a:ext cx="2618156" cy="3337560"/>
          </a:xfrm>
          <a:prstGeom prst="roundRect">
            <a:avLst>
              <a:gd name="adj" fmla="val 628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61475" y="2029968"/>
            <a:ext cx="23621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交付或回改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061475" y="2359152"/>
            <a:ext cx="23621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最终不是简单结束，而是明确判定：交付，或回到对应阶段继续修正。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061475" y="2834640"/>
            <a:ext cx="2362124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通过则交付与预览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未通过则补页、换布局、补图后重检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061475" y="4809744"/>
            <a:ext cx="2362124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051" y="4882896"/>
            <a:ext cx="2288972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结果：交付 / 回改 / 重检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好 Skill 与坏 Skill，差别通常不在字数，而在结构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78992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维度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弱 Skill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强 Skill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边界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什么都想做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明确只做某一类任务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入口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依赖口头理解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有明确命令和场景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产物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只给一段文本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有目录、有阶段结果、有文件落盘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质量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没有检查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有评估器与回改机制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本题里的 Skill 真实落地链路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097280"/>
            <a:ext cx="1508760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1261872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泳道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86584" y="1097280"/>
            <a:ext cx="2259254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32304" y="1261872"/>
            <a:ext cx="2167814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步骤 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37278" y="1097280"/>
            <a:ext cx="2259254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998" y="1261872"/>
            <a:ext cx="2167814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步骤 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87972" y="1097280"/>
            <a:ext cx="2259254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3692" y="1261872"/>
            <a:ext cx="2167814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步骤 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38665" y="1097280"/>
            <a:ext cx="2259254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84385" y="1261872"/>
            <a:ext cx="2167814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步骤 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6384" y="1737360"/>
            <a:ext cx="1508760" cy="658368"/>
          </a:xfrm>
          <a:prstGeom prst="roundRect">
            <a:avLst>
              <a:gd name="adj" fmla="val 19444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1993392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用户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86584" y="1737360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59736" y="1938528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提出课件需求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37278" y="1737360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0430" y="1938528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确认 outline 结构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87972" y="1737360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61124" y="1938528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查看预览结果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438665" y="1737360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11817" y="1938528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给出回改反馈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86384" y="2578608"/>
            <a:ext cx="1508760" cy="658368"/>
          </a:xfrm>
          <a:prstGeom prst="roundRect">
            <a:avLst>
              <a:gd name="adj" fmla="val 19444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2834640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386584" y="2578608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59736" y="2779776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读取输入与约束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37278" y="2578608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0430" y="2779776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生成并修正 outline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087972" y="2578608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61124" y="2779776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生成 deck 与 slides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438665" y="2578608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11817" y="2779776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根据反馈继续细化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86384" y="3419856"/>
            <a:ext cx="1508760" cy="658368"/>
          </a:xfrm>
          <a:prstGeom prst="roundRect">
            <a:avLst>
              <a:gd name="adj" fmla="val 19444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" y="3675888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文件系统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386584" y="3419856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59736" y="3621024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准备项目目录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37278" y="3419856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10430" y="3621024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写 outline.json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087972" y="3419856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61124" y="3621024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写 deck/slides/assets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438665" y="3419856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11817" y="3621024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保留可回归产物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86384" y="4261104"/>
            <a:ext cx="1508760" cy="658368"/>
          </a:xfrm>
          <a:prstGeom prst="roundRect">
            <a:avLst>
              <a:gd name="adj" fmla="val 19444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688" y="4517136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前端预览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386584" y="4261104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59736" y="4462272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等待产物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37278" y="4261104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10430" y="4462272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读取 outline/deck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087972" y="4261104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61124" y="4462272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渲染页面与图形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438665" y="4261104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11817" y="4462272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打开预览验证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课堂练习：为一个新任务设计 Skill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本章小结：Skill 的价值在于沉淀能力，而不是堆一份提示词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Skill 先解决复用问题，再为 Harness 提供稳定零件。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边界、阶段、目录、示例、质检，这五类信息越清楚，Skill 越稳。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真正可维护的 Skill，一定带着输入输出和质量门禁。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74920" y="1051560"/>
            <a:ext cx="3163824" cy="5074920"/>
          </a:xfrm>
          <a:prstGeom prst="roundRect">
            <a:avLst>
              <a:gd name="adj" fmla="val 520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带走结论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9512" y="1527048"/>
            <a:ext cx="28346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好 Skill 的本质是“能力产品化”。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第 3 章 Harness 工程与 Evaluator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Harness 的关键不是某个组件，而是一个稳定闭环。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为什么有了 Skill 还不够，还要继续做 Harness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Harness 总体关系图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Harness 至少要把哪六个核心组件组织起来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Context：决定模型到底能看到什么、看到多少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Tools：让模型不只会说，还能真的去做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Environment 与 Memory：让结果可复现、让过程可延续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Planner：决定先做什么、后做什么、什么时候该回改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从输入到交付：Harness 的任务执行链路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097280"/>
            <a:ext cx="1508760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1261872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泳道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86584" y="1097280"/>
            <a:ext cx="2259254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32304" y="1261872"/>
            <a:ext cx="2167814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步骤 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37278" y="1097280"/>
            <a:ext cx="2259254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998" y="1261872"/>
            <a:ext cx="2167814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步骤 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87972" y="1097280"/>
            <a:ext cx="2259254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3692" y="1261872"/>
            <a:ext cx="2167814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步骤 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38665" y="1097280"/>
            <a:ext cx="2259254" cy="475488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84385" y="1261872"/>
            <a:ext cx="2167814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步骤 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6384" y="1737360"/>
            <a:ext cx="1508760" cy="658368"/>
          </a:xfrm>
          <a:prstGeom prst="roundRect">
            <a:avLst>
              <a:gd name="adj" fmla="val 19444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1993392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输入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86584" y="1737360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59736" y="1938528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读需求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37278" y="1737360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0430" y="1938528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读目录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87972" y="1737360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61124" y="1938528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读现有产物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438665" y="1737360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11817" y="1938528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识别目标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86384" y="2578608"/>
            <a:ext cx="1508760" cy="658368"/>
          </a:xfrm>
          <a:prstGeom prst="roundRect">
            <a:avLst>
              <a:gd name="adj" fmla="val 19444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2834640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规划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386584" y="2578608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59736" y="2779776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定类型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37278" y="2578608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0430" y="2779776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定阶段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087972" y="2578608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61124" y="2779776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定优先级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438665" y="2578608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11817" y="2779776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定验证动作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86384" y="3419856"/>
            <a:ext cx="1508760" cy="658368"/>
          </a:xfrm>
          <a:prstGeom prst="roundRect">
            <a:avLst>
              <a:gd name="adj" fmla="val 19444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" y="3675888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执行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386584" y="3419856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59736" y="3621024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改 prompt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37278" y="3419856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10430" y="3621024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写 JSON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087972" y="3419856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61124" y="3621024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补 assets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438665" y="3419856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11817" y="3621024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启动服务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86384" y="4261104"/>
            <a:ext cx="1508760" cy="658368"/>
          </a:xfrm>
          <a:prstGeom prst="roundRect">
            <a:avLst>
              <a:gd name="adj" fmla="val 19444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688" y="4517136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检查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386584" y="4261104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59736" y="4462272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构建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37278" y="4261104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10430" y="4462272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诊断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087972" y="4261104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61124" y="4462272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预览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438665" y="4261104"/>
            <a:ext cx="2259254" cy="658368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11817" y="4462272"/>
            <a:ext cx="211295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回改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Harness 应该优先优化什么，而不是到处一起改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为什么 Evaluator 是 Harness 里最值得重点讲的组件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Evaluator 的四层检查链路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本题里可以把 Evaluator 规则设计成什么样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77240" y="1115568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3167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结构层规则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91840" y="1115568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1280160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先有 outline，再有 detail  ·  slide_files 必须与文件一致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2103120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3042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类型层规则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91840" y="2103120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2267712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需求写课件类，则 deck.type 必须是课件类  ·  布局应符合课件类节奏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3090672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32918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内容层规则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91840" y="3090672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255264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每章有概念、案例、互动、小结  ·  核心问题必须被回答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4078224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42793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质量层规则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291840" y="4078224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4242816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关键概念页应有图形表达  ·  背景图、SVG 素材必须真实存在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本题里的 Harness 落地示例：它是怎么把生成、检查和预览串起来的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课堂练习：先拍板，再写 3 条 Evaluator 规则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这页的重点不是继续解释概念，而是快速做出 3 个会影响交付质量的决定。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先定一条结构门禁：例如是否必须同时产出 `outline/deck/slides` 且相互对齐。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再定一条内容门禁：例如每页是否必须说清楚“结论、证据、动作”。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最后定一条视觉门禁：例如 bullet 数、图文比例、留白是否达标。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优先选择能自动检查、且不通过就值得回改的规则，不要先写很多“建议型”规则。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74920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现在先拍板什么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9512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先决定哪 3 条规则必须卡住交付，而不是一开始写一大串检查项。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03336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928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推荐组合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67928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结构 1 条 + 内容 1 条 + 视觉 1 条，足够形成最小可用门禁。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361188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9512" y="37764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课堂输出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9512" y="408736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每位学员带走一套可执行、可自动化、可复用的 Evaluator 初版规则。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本章小结：Harness 的核心，是把任务组织成可验证闭环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Harness 让任务从“一次回答”变成“分阶段执行 + 质量门禁 + 可回改”的工程过程。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六大组件缺一不可，但 Evaluator 往往决定了系统是否真正稳定。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工程化的价值不是把事情做复杂，而是让复杂任务可控。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74920" y="1051560"/>
            <a:ext cx="3163824" cy="5074920"/>
          </a:xfrm>
          <a:prstGeom prst="roundRect">
            <a:avLst>
              <a:gd name="adj" fmla="val 520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带走结论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9512" y="1527048"/>
            <a:ext cx="28346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没有质量门禁的复杂系统，最终很难稳定。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全课总复盘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把三代工程、Skill、Harness 与 Evaluator 串回一条主线。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从 Skill 到 Harness 的知识地图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这节课真正要带走的 5 句话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任务越复杂，越不能只停留在 Prompt Engineering。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Skill 的价值在于把高频任务做成可复用能力单元。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Harness 的价值在于把上下文、工具、环境、规划和评估连接起来。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Evaluator 决定了系统能不能稳定回归。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好课件不是字更多，而是结构更清楚、图形表达更强、产物更可验证。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74920" y="1051560"/>
            <a:ext cx="3163824" cy="5074920"/>
          </a:xfrm>
          <a:prstGeom prst="roundRect">
            <a:avLst>
              <a:gd name="adj" fmla="val 520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如果只记住一句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9512" y="1527048"/>
            <a:ext cx="28346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从“写一句好提示词”升级到“设计一整条稳定交付链路”。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03336" y="1051560"/>
            <a:ext cx="3163824" cy="5074920"/>
          </a:xfrm>
          <a:prstGeom prst="roundRect">
            <a:avLst>
              <a:gd name="adj" fmla="val 520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928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如果立刻要落地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67928" y="1527048"/>
            <a:ext cx="28346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先给你的任务补阶段、目录、质检和预览四件事。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欢迎继续讨论：你的任务现在处在哪一代工程？下一步最值得补哪一个环节？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第 11 期：Skill 复盘与落地辅导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围绕“用户- Skill - 文件系统 - 前端预览”的闭环，讲清怎么开发、怎么质检、怎么交付。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第 11 期复盘：生成网页 PPT 的 Skill 闭环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如何开发一个 Skill（从 0 到 1）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7E3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120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62984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定义边界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明确不做什么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明确输入与输出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把交付写成目录结构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19688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74552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51648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9664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定义流程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79664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强制 outline -&gt; detail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每阶段都有可检查产物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63216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1232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定义布局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91232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先写 layout 类型库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为高频页面定模板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概念页优先 svg_full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42823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7687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74784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2800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落成产物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02800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写 deck.json + slides/*.json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SVG 素材落盘到 work/assets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354391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09255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486351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14367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接入预览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14367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viewer 读取 /api/deck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检查超屏/缺图/错 layout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支持回改再验证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 的质量如何保证（门禁 + 回归）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7E3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5309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0173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大纲门禁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2359152"/>
            <a:ext cx="32836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先检查结构和页面意图是否合理，避免后续 detail 失控。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" y="28346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页序是否合理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图页比例是否足够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layout 选择是否匹配意图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096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通过后进入 detail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26026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54042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详细页门禁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54042" y="2359152"/>
            <a:ext cx="32836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检查每页字段是否完整，是否真的把图落成了可引用资产。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54042" y="28346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slides 字段完整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表格/流程/对比用对 layout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svg.src 指向真实文件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54042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未通过则回改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617202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72066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011973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9989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预览门禁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39989" y="2359152"/>
            <a:ext cx="32836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在 viewer 里检查真实渲染效果，避免“看起来对但实际超屏/缺图”。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39989" y="28346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是否超屏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图是否清晰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标题/留白是否一致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39989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76565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通过后交付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第 11 期产出物（Skill 初版交付清单）</a:t>
            </a:r>
            <a:endParaRPr lang="en-US" sz="24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78992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类别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文件/目录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说明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Skill 入口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skills/SKILL.md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定义能力范围、命令入口、输出结构、质量要求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总提示词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skills/prompts/ppt/00_PPT生成.md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通用规则：先 outline 再 detail、layout 选型、SVG 规范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类型提示词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skills/prompts/ppt/01~04_*.md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四类 deck 的结构节奏与页面密度约束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布局库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skills/prompts/ppt/layouts.md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layout 类型与字段全集（生成时的字段参考）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选型规则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skills/prompts/ppt/layout_rules.md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页面意图 -&gt; layout 的映射规则与禁用项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示例模板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skills/prompts/ppt/examples/*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每种类型一套 outline/deck/slides 示例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前端预览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ppt-viewer/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按 layout_type 渲染，支持目录跳转与快速检查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本地服务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server.mjs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固定 9030，提供 /api/deck 与 /work/ 资源读取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真实产物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work/ppt/&lt;项目名&gt;/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outline.json + deck.json + slides/*.json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图形素材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work/assets/*.svg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D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SVG 必须真实落盘，可被 slides 引用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第 12 期：Auth + 数据抓取 + 分析 + 图表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把“能访问数据”变成“能把数据变成图表并交付到 deck”。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Auth：让数据抓取可用且可复现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7E3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120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62984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选认证方式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 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OAuth2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Cookie/Session（不推荐长期使用）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19688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74552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51648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9664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安全存储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79664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用环境变量/本地配置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不要把密钥写进 repo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日志里不要打印 token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63216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1232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封装请求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91232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统一 Header 注入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统一错误处理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处理限流与重试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42823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7687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74784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2800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可复现记录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02800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记录请求参数与版本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落盘原始响应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保存抓取时间窗口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354391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09255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486351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14367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最小验证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14367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先跑通一个接口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再扩成批量抓取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最后接入分析与图表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从 Auth 到图表：数据如何变成可交付页面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分析数据：清洗 -&gt; 聚合 -&gt; 指标 -&gt; 解释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7E3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120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62984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清洗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统一字段名与类型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处理缺失值/异常值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补齐时间与维度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19688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74552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51648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9664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聚合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79664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按时间窗口聚合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按类别/渠道聚合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拆分对比组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63216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1232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指标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91232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定义口径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输出可复现计算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把指标写成一页卡片或图表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42823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7687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74784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2800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可视化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02800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对比用 bar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趋势用 line/area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构成用 pie/donut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354391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F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09255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486351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7FA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14367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解释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14367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给结论一句话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再给证据图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最后给建议动作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示例：按类别统计（用于对比）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691640" y="4937760"/>
            <a:ext cx="8961120" cy="0"/>
          </a:xfrm>
          <a:prstGeom prst="line">
            <a:avLst/>
          </a:prstGeom>
          <a:noFill/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864608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91640" y="4034790"/>
            <a:ext cx="8961120" cy="0"/>
          </a:xfrm>
          <a:prstGeom prst="line">
            <a:avLst/>
          </a:prstGeom>
          <a:noFill/>
          <a:ln w="12700">
            <a:solidFill>
              <a:srgbClr val="D7E3F4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961638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1640" y="3131820"/>
            <a:ext cx="8961120" cy="0"/>
          </a:xfrm>
          <a:prstGeom prst="line">
            <a:avLst/>
          </a:prstGeom>
          <a:noFill/>
          <a:ln w="12700">
            <a:solidFill>
              <a:srgbClr val="D7E3F4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058668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91640" y="2228850"/>
            <a:ext cx="8961120" cy="0"/>
          </a:xfrm>
          <a:prstGeom prst="line">
            <a:avLst/>
          </a:prstGeom>
          <a:noFill/>
          <a:ln w="12700">
            <a:solidFill>
              <a:srgbClr val="D7E3F4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2155698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91640" y="1325880"/>
            <a:ext cx="8961120" cy="0"/>
          </a:xfrm>
          <a:prstGeom prst="line">
            <a:avLst/>
          </a:prstGeom>
          <a:noFill/>
          <a:ln w="12700">
            <a:solidFill>
              <a:srgbClr val="D7E3F4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1252728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91640" y="1325880"/>
            <a:ext cx="0" cy="3611880"/>
          </a:xfrm>
          <a:prstGeom prst="line">
            <a:avLst/>
          </a:prstGeom>
          <a:noFill/>
          <a:ln w="17780">
            <a:solidFill>
              <a:srgbClr val="D7E3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91640" y="4937760"/>
            <a:ext cx="8961120" cy="0"/>
          </a:xfrm>
          <a:prstGeom prst="line">
            <a:avLst/>
          </a:prstGeom>
          <a:noFill/>
          <a:ln w="17780">
            <a:solidFill>
              <a:srgbClr val="D7E3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128930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次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94890" y="2626157"/>
            <a:ext cx="1433779" cy="2311603"/>
          </a:xfrm>
          <a:prstGeom prst="roundRect">
            <a:avLst>
              <a:gd name="adj" fmla="val 5102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03450" y="2424989"/>
            <a:ext cx="1616659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930298" y="5047488"/>
            <a:ext cx="1762963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认证成功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35170" y="4822180"/>
            <a:ext cx="1433779" cy="115580"/>
          </a:xfrm>
          <a:prstGeom prst="roundRect">
            <a:avLst>
              <a:gd name="adj" fmla="val 63291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43730" y="4621012"/>
            <a:ext cx="1616659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70578" y="5047488"/>
            <a:ext cx="1762963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认证失败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75450" y="3167939"/>
            <a:ext cx="1433779" cy="1769821"/>
          </a:xfrm>
          <a:prstGeom prst="roundRect">
            <a:avLst>
              <a:gd name="adj" fmla="val 5102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84010" y="2966771"/>
            <a:ext cx="1616659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10858" y="5047488"/>
            <a:ext cx="1762963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抓取成功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815730" y="4869134"/>
            <a:ext cx="1433779" cy="68626"/>
          </a:xfrm>
          <a:prstGeom prst="roundRect">
            <a:avLst>
              <a:gd name="adj" fmla="val 106595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24290" y="4667966"/>
            <a:ext cx="1616659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651138" y="5047488"/>
            <a:ext cx="1762963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抓取失败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示例：按时间趋势（用于观察变化）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417320" y="4937760"/>
            <a:ext cx="9418320" cy="0"/>
          </a:xfrm>
          <a:prstGeom prst="line">
            <a:avLst/>
          </a:prstGeom>
          <a:noFill/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864608"/>
            <a:ext cx="429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417320" y="4064508"/>
            <a:ext cx="9418320" cy="0"/>
          </a:xfrm>
          <a:prstGeom prst="line">
            <a:avLst/>
          </a:prstGeom>
          <a:noFill/>
          <a:ln w="12700">
            <a:solidFill>
              <a:srgbClr val="D7E3F4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91356"/>
            <a:ext cx="429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417320" y="3191256"/>
            <a:ext cx="9418320" cy="0"/>
          </a:xfrm>
          <a:prstGeom prst="line">
            <a:avLst/>
          </a:prstGeom>
          <a:noFill/>
          <a:ln w="12700">
            <a:solidFill>
              <a:srgbClr val="D7E3F4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118104"/>
            <a:ext cx="429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17320" y="2318004"/>
            <a:ext cx="9418320" cy="0"/>
          </a:xfrm>
          <a:prstGeom prst="line">
            <a:avLst/>
          </a:prstGeom>
          <a:noFill/>
          <a:ln w="12700">
            <a:solidFill>
              <a:srgbClr val="D7E3F4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244852"/>
            <a:ext cx="429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417320" y="1444752"/>
            <a:ext cx="9418320" cy="0"/>
          </a:xfrm>
          <a:prstGeom prst="line">
            <a:avLst/>
          </a:prstGeom>
          <a:noFill/>
          <a:ln w="12700">
            <a:solidFill>
              <a:srgbClr val="D7E3F4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1371600"/>
            <a:ext cx="429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417320" y="1444752"/>
            <a:ext cx="0" cy="3493008"/>
          </a:xfrm>
          <a:prstGeom prst="line">
            <a:avLst/>
          </a:prstGeom>
          <a:noFill/>
          <a:ln w="15240">
            <a:solidFill>
              <a:srgbClr val="143D7A">
                <a:alpha val="3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1207008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条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417320" y="4099438"/>
            <a:ext cx="2354580" cy="-335329"/>
          </a:xfrm>
          <a:prstGeom prst="line">
            <a:avLst/>
          </a:prstGeom>
          <a:noFill/>
          <a:ln w="30480">
            <a:solidFill>
              <a:srgbClr val="1D6F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71900" y="3764109"/>
            <a:ext cx="2354580" cy="-293413"/>
          </a:xfrm>
          <a:prstGeom prst="line">
            <a:avLst/>
          </a:prstGeom>
          <a:noFill/>
          <a:ln w="30480">
            <a:solidFill>
              <a:srgbClr val="1D6F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3470697"/>
            <a:ext cx="2354580" cy="97804"/>
          </a:xfrm>
          <a:prstGeom prst="line">
            <a:avLst/>
          </a:prstGeom>
          <a:noFill/>
          <a:ln w="30480">
            <a:solidFill>
              <a:srgbClr val="1D6F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81060" y="3568501"/>
            <a:ext cx="2354580" cy="-363273"/>
          </a:xfrm>
          <a:prstGeom prst="line">
            <a:avLst/>
          </a:prstGeom>
          <a:noFill/>
          <a:ln w="30480">
            <a:solidFill>
              <a:srgbClr val="1D6F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17320" y="3898270"/>
            <a:ext cx="0" cy="201168"/>
          </a:xfrm>
          <a:prstGeom prst="line">
            <a:avLst/>
          </a:prstGeom>
          <a:noFill/>
          <a:ln w="12700">
            <a:solidFill>
              <a:srgbClr val="1D6FE8">
                <a:alpha val="3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17320" y="3660526"/>
            <a:ext cx="475488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1D6FE8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35608" y="3697102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344168" y="4026286"/>
            <a:ext cx="146304" cy="146304"/>
          </a:xfrm>
          <a:prstGeom prst="ellipse">
            <a:avLst/>
          </a:prstGeom>
          <a:solidFill>
            <a:srgbClr val="1D6F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06424" y="5065776"/>
            <a:ext cx="621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71900" y="3562941"/>
            <a:ext cx="0" cy="201168"/>
          </a:xfrm>
          <a:prstGeom prst="line">
            <a:avLst/>
          </a:prstGeom>
          <a:noFill/>
          <a:ln w="12700">
            <a:solidFill>
              <a:srgbClr val="1D6FE8">
                <a:alpha val="3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34156" y="3325197"/>
            <a:ext cx="475488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1D6FE8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52444" y="3361773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98748" y="3690957"/>
            <a:ext cx="146304" cy="146304"/>
          </a:xfrm>
          <a:prstGeom prst="ellipse">
            <a:avLst/>
          </a:prstGeom>
          <a:solidFill>
            <a:srgbClr val="1D6F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61004" y="5065776"/>
            <a:ext cx="621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3269529"/>
            <a:ext cx="0" cy="201168"/>
          </a:xfrm>
          <a:prstGeom prst="line">
            <a:avLst/>
          </a:prstGeom>
          <a:noFill/>
          <a:ln w="12700">
            <a:solidFill>
              <a:srgbClr val="1D6FE8">
                <a:alpha val="3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88736" y="3031785"/>
            <a:ext cx="475488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1D6FE8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07024" y="3068361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53328" y="3397545"/>
            <a:ext cx="146304" cy="146304"/>
          </a:xfrm>
          <a:prstGeom prst="ellipse">
            <a:avLst/>
          </a:prstGeom>
          <a:solidFill>
            <a:srgbClr val="1D6F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15584" y="5065776"/>
            <a:ext cx="621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481060" y="3367333"/>
            <a:ext cx="0" cy="201168"/>
          </a:xfrm>
          <a:prstGeom prst="line">
            <a:avLst/>
          </a:prstGeom>
          <a:noFill/>
          <a:ln w="12700">
            <a:solidFill>
              <a:srgbClr val="1D6FE8">
                <a:alpha val="3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43316" y="3129589"/>
            <a:ext cx="475488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1D6FE8">
                <a:alpha val="3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61604" y="3166165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407908" y="3495349"/>
            <a:ext cx="146304" cy="146304"/>
          </a:xfrm>
          <a:prstGeom prst="ellipse">
            <a:avLst/>
          </a:prstGeom>
          <a:solidFill>
            <a:srgbClr val="1D6F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70164" y="5065776"/>
            <a:ext cx="621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835640" y="3004060"/>
            <a:ext cx="0" cy="201168"/>
          </a:xfrm>
          <a:prstGeom prst="line">
            <a:avLst/>
          </a:prstGeom>
          <a:noFill/>
          <a:ln w="12700">
            <a:solidFill>
              <a:srgbClr val="1D6FE8">
                <a:alpha val="3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60152" y="2766316"/>
            <a:ext cx="475488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1D6FE8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378440" y="2802892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3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248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762488" y="3132076"/>
            <a:ext cx="146304" cy="146304"/>
          </a:xfrm>
          <a:prstGeom prst="ellipse">
            <a:avLst/>
          </a:prstGeom>
          <a:solidFill>
            <a:srgbClr val="1D6F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24744" y="5065776"/>
            <a:ext cx="621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4DA0FF">
              <a:alpha val="16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4DA0FF"/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第 11-12 期带走什么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123B7A"/>
          </a:solidFill>
          <a:ln w="12700">
            <a:solidFill>
              <a:srgbClr val="123B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Skill 要先把流程与产物定义清楚，再谈生成质量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质量保证要靠门禁与回归：outline/detail/预览三层检查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数据类任务先把 auth 与抓取做可复现，再做分析与图表页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图表页要有结论、口径、数据来源，避免“只有一张图”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4DA0FF">
              <a:alpha val="22000"/>
            </a:srgbClr>
          </a:solidFill>
          <a:ln w="12700">
            <a:solidFill>
              <a:srgbClr val="4DA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1D6FE8">
              <a:alpha val="16000"/>
            </a:srgbClr>
          </a:solidFill>
          <a:ln w="12700">
            <a:solidFill>
              <a:srgbClr val="1D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123B7A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下一步你最想补哪一块：新 layout？新类型？还是一套可复现的数据抓取与图表流程？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visual-req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 Skill 到 Harness 工程</dc:title>
  <dc:subject>从 Skill 到 Harness 工程</dc:subject>
  <dc:creator>fast_ppt</dc:creator>
  <cp:lastModifiedBy>fast_ppt</cp:lastModifiedBy>
  <cp:revision>1</cp:revision>
  <dcterms:created xsi:type="dcterms:W3CDTF">2026-07-12T03:43:35Z</dcterms:created>
  <dcterms:modified xsi:type="dcterms:W3CDTF">2026-07-12T03:43:35Z</dcterms:modified>
</cp:coreProperties>
</file>