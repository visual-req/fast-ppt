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DECK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制造业数字化转型与 AI 导入方案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从数字化底座到 AI 场景落地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Slate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讲师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5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方案团队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日期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目录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14400" y="164592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69164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67335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第一章 总体思路与数字化底座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21284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258568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24028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第二章 生产环节导入 AI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277977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825496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8072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第三章 软件研发导入 AI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334670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39242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3374136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第四章 业务与办公场景 AI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9136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959352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3941064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第五章 基础设施与运维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448056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52628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50799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第六章 人才与制度保障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504748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5093208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0" y="507492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第七章 收口：路线图与下一步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总体思路与数字化底座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数字化为 AI 准备了什么？当前差距在哪里？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制造业数字化转型与 AI 导入整体思路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业务战略规划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对齐战略目标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参考行业最佳实践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明确年度任务清单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先定方向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当前业务分析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盘点业务现状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核查数据与系统现状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识别技术差距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79664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6240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先看清差距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未来蓝图设计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设计业务蓝图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设计数据蓝图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设计系统与技术蓝图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91232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27808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先画目标态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解决方案设计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整理方案结构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校验关键假设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对齐收益与风险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2800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39376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形成可执行方案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系统建设规划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制定里程碑计划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配套治理机制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落实排期与资源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14367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50943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进入落地阶段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执行摘要：一个底座 + 三类 AI + 两套保障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核心判断：数字化决定数据可用性，AI 决定决策与自动化效率。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一个底座：数据平台 + 集成平台 + 基础设施，统一数据、全域集成、安全合规。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两套保障：组织制度保障与安全合规保障，覆盖治理、培训、考核、审计与权限。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里程碑路径：M01-M03 样板闭环，M04-M06 跨厂复制，M07-M12+ 平台化规模化。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研发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代码补全、需求分析、用例生成、架构审查，研发效率提升 30%+。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 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智能排产、质量预测、工艺优化、设备预警，推动良率提升与停机减少。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办公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文档生成、会议纪要、企业搜索、智能助理，显著提升协同效率。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导入发展阶段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数字化打底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完成流程梳理、系统覆盖和数据采集  ·  建立主数据、事件数据和接口规范  ·  先解决看得见、查得到、能追溯的问题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单点试点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围绕质检、预测、问答等高价值场景试点  ·  明确输入数据、业务角色和验收指标  ·  验证 AI 能否带来可量化收益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流程嵌入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AI 能力嵌入生产、研发和办公流程  ·  接入工单、审批、报表和协同工具  ·  让 AI 输出进入业务闭环而不是停留在建议层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平台化治理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统一模型、知识、权限、审计和发布机制  ·  建立评测、灰度、回滚和安全合规体系  ·  沉淀跨部门可复用的能力组件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5065776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2669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规模化复制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291840" y="5065776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5230368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把成熟场景模板化后复制到多工厂、多部门  ·  持续跟踪采纳率、准确率和经营改善效果  ·  从辅助决策逐步走向预测优化与局部自治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AI建设内容分层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数字化底座的数据汇总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统一汇聚系统数据、业务事件、设备时序和文档知识  ·  沉淀主数据、事件数据、时序数据与知识库  ·  先把 AI 可用的数据基础打稳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基础设施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提供模型服务与编排能力  ·  建设向量库、知识库、算力与推理网关  ·  统一权限、审计、安全与集成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三类 AI 分析系统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 AI：库存预测、经营分析、风险预警  ·  研发 AI：需求分析、编码辅助、测试生成  ·  办公 AI：文档生成、会议纪要、企业搜索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流程系统建设：系统边界与协同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企业资源计划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财务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销售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PLM 产品生命周期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变更管理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 制造执行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排产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报工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追溯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WMS 仓储管理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入库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出库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盘点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SCM 供应链管理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计划协同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采购协同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供应商协同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QMS 质量管理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不合格品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CMMS 设备维护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点检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维修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SCADA / EMS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实时监控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TMS 物流管理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运输计划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配送跟踪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签收回传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数据底座搭建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主数据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低频变更，要求强一致性。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物料编码 / BOM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工艺路线 / 设备台账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事件数据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高频写入，强调实时性。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生产工单 / 质检记录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设备日志 / 出入库流水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时序与多媒体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海量写入，强调压缩与归档。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传感器 / 热成像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设备影像 / 声纹数据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统一数据字典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业务术语标准化，保证字段语义一致。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5068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33672" y="301752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数据底座搭建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33672" y="336499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中心枢纽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数据血缘追踪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覆盖端到端链路，支持影响分析与问题定位。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质量基线指标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持续监控完整性、准确性、及时性与一致性。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分层存储策略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热数据放内存/SSD，温数据放 HDD，冷数据归档到对象存储。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数据贯通：全链路集成与追溯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456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3943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统一编码体系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先统一主键和口径，打通跨系统映射。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统一物料、设备、工位、组织编码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贯穿 ERP → MES → WMS 全链条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4902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389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0454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255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NTP 时间同步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3255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保证多系统事件顺序可严格还原。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255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全系统毫秒级时钟对齐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支撑追溯、审计与异常回放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348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835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69000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7016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全链路追溯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97016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同时支持正向和反向追溯，覆盖完整工艺路线。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7016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正向：原料 → 半成品 → 成品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反向：成品 → 原料批次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77945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32809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933459" y="1874520"/>
            <a:ext cx="2618156" cy="3337560"/>
          </a:xfrm>
          <a:prstGeom prst="roundRect">
            <a:avLst>
              <a:gd name="adj" fmla="val 628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61475" y="2029968"/>
            <a:ext cx="236212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查询 SLA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61475" y="2359152"/>
            <a:ext cx="23621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把集成结果落到可运营、可观测的检索体验。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61475" y="2834640"/>
            <a:ext cx="2362124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30 秒内完成全链路数据检索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支持实时仪表板与异常自动告警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数字化成熟度评估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1527048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流程标准化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1417320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417320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1490472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2.5/5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185416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系统覆盖度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2075688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075688"/>
            <a:ext cx="3730752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214884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2843784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数据质量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2734056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734056"/>
            <a:ext cx="24871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280720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502152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网络与设备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4680" y="3392424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392424"/>
            <a:ext cx="4352544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3465576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3.5/5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4160520"/>
            <a:ext cx="2103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治理体系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54680" y="4050792"/>
            <a:ext cx="621792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4050792"/>
            <a:ext cx="248716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55480" y="4123944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生产环节导入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做什么场景、怎么做样板、如何复制？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生产 AI 场景地图：三个核心闭环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质量闭环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AI视觉检测→自动判定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缺陷追溯与根因定位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纠正预防闭环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检出率&gt;=99.5%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设备闭环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4042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健康评估→预警推送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自动工单→维修执行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复盘→策略优化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停机下降30%+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生产闭环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9989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异常实时识别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智能调度调整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反馈与模型迭代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OEE+5-10pp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示例A：视觉质检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" y="1591056"/>
            <a:ext cx="3182112" cy="3063240"/>
          </a:xfrm>
          <a:prstGeom prst="roundRect">
            <a:avLst>
              <a:gd name="adj" fmla="val 5970"/>
            </a:avLst>
          </a:prstGeom>
          <a:solidFill>
            <a:srgbClr val="F6F7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案例截图 / 场景示意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示例A：视觉质检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业务痛点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人工质检不稳定、节拍受限、漏检索赔。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工位边缘推理+复核工作台+QMS回写。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验收指标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检出率&gt;=99.5%、误判率&lt;=2%、复核下降60%+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示例B：过程参数异常预警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" y="1591056"/>
            <a:ext cx="3182112" cy="3063240"/>
          </a:xfrm>
          <a:prstGeom prst="roundRect">
            <a:avLst>
              <a:gd name="adj" fmla="val 5970"/>
            </a:avLst>
          </a:prstGeom>
          <a:solidFill>
            <a:srgbClr val="F6F7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案例截图 / 场景示意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示例B：过程参数异常预警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业务痛点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参数漂移导致批量不良，依赖老师傅经验。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SPC+异常检测→停线调整→工单→工艺卡。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验收指标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不良次数降70%，预警提前30min，良率+2-5pp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示例C：预测性维护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4128" y="1591056"/>
            <a:ext cx="3182112" cy="3063240"/>
          </a:xfrm>
          <a:prstGeom prst="roundRect">
            <a:avLst>
              <a:gd name="adj" fmla="val 5970"/>
            </a:avLst>
          </a:prstGeom>
          <a:solidFill>
            <a:srgbClr val="F6F7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案例截图 / 场景示意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示例C：预测性维护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业务痛点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非计划停机影响交付，备件库存不合理。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方案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多源传感器+健康度模型→CMMS工单+备件优化。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验收指标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停机降40%，MTTR-30%，OEE+5-8pp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落地套路：样板→可复制产品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定义标准交付包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先把样板项目沉淀成可交付、可验收、可培训的最小标准包。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数据字典与采集规范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缺陷字典与标注标准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模型评估基线与上线验收清单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固化可复制要素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4042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把部署、接口、阈值和改造方式做成标准模板。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54042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工位改造标准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边缘部署规范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接口规范与阈值模板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推广与持续优化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39989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把复制、版本治理和场景迭代纳入持续运营机制。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9989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多产线复制与版本管理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效果回收与阈值调优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让样板进化为可规模推广的产品能力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软件研发导入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研发全流程AI机会？如何分阶段导入？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研发全流程AI机会点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/vspec:new生成背景/角色/流程/场景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/vspec:refine精化需求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/vspec:detail生成设计规格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/vspec:verify生成原型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需求可追溯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设计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79664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架构对比与推荐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接口定义草案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威胁建模与安全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79664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6240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设计评审通过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开发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91232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智能补全与重构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单元测试生成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代码评审与门禁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91232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27808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覆盖率&gt;=80%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2800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/vspec:accept验收用例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/vspec:append-test自动化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缺陷归因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回归优化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2800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39376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缺陷密度降30%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运维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14367" y="23774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告警降噪分级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根因分析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变更影响分析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知识问答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14367" y="4809744"/>
            <a:ext cx="1809232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50943" y="4882896"/>
            <a:ext cx="17360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MTTR-50%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AI赋能需求分析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97280"/>
            <a:ext cx="1508760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261872"/>
            <a:ext cx="822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泳道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86584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申请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53713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9433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20842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6562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7972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3692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55101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0821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222230" y="1097280"/>
            <a:ext cx="1475689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67950" y="1261872"/>
            <a:ext cx="1384249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取消 / 异常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384" y="1737360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1993392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用车人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86584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9736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申请用车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53713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6865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20842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3994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87972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1124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55101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28253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变更用车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222230" y="1737360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95382" y="1938528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取消用车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6384" y="2578608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" y="2834640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派车员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386584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9736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953713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6865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分派车辆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20842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3994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87972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1124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55101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28253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更换车辆 / 撤销分派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222230" y="2578608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95382" y="2779776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冲突处理 / 紧急变更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86384" y="3419856"/>
            <a:ext cx="1508760" cy="658368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688" y="3675888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司机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386584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59736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953713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6865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520842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93994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出发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087972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61124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到达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655101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28253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更换司机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222230" y="3419856"/>
            <a:ext cx="1475689" cy="65836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95382" y="3621024"/>
            <a:ext cx="1329385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司机拒绝 / 紧急停止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从需求生成单元测试、集成测试、验收测试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需求输入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用户故事 / PRD / 接口契约 / 原型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需求边界、角色、流程节点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字段约束、异常场景、验收条件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2122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78426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8426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644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06442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解析与拆解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06442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把自然语言需求转换成可测试结构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06442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提取业务规则与数据断言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区分模块级、接口级、流程级测试对象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24165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70469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70469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848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98485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测试生成引擎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98485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按测试层级映射生成案例模板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98485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Mock / 依赖替身 / 环境准备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前置条件 / 步骤 / 期望结果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638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单元测试案例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440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对象：函数 / 类 / 模块；生成断言、Mock、异常用例，输出单测代码与覆盖点清单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6674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集成测试案例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9476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对象：服务接口 / 数据流 / 模块协同；输出集成测试脚本与联调清单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4710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验收测试案例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7512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对象：端到端业务流程与角色操作；输出 UAT 案例、验收脚本与签收依据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关键思路：同一份需求先做结构化拆解，再按“模块、接口、流程”三个层级输出不同类型的测试案例。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测试阶段：验收、自动化与归因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验收测试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基于需求自动生成端到端验收用例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需求解析：提取验收条件、场景路径、角色权限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场景生成：Given-When-Then + 签收标准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2122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78426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8426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644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06442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自动化测试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06442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智能选择回归范围，自动生成测试代码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06442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变更分析：识别受影响的模块、接口、数据流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代码生成：Mock、断言、边界值、异常用例自动填充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24165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70469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70469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848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98485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缺陷归因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98485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失败用例自动关联变更、环境与历史模式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98485" y="2176272"/>
            <a:ext cx="327141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多维关联：代码变更 + 环境差异 + 历史缺陷指纹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测试数据构造：边界值、异常输入、安全攻击场景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8638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1440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自然语言 -&gt; 可执行用例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6674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9476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变更影响分析 -&gt; 精准回归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4710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归因层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7512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缺陷指纹库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42746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门禁层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5548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自动准出判定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核心思路：把测试从“被动执行”升级为“验收自动生成 -&gt; 回归智能筛选 -&gt; 缺陷自动归因 -&gt; 门禁自动判定”的完整智能闭环。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项目管理指标体系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各系统提供数据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项目、代码、沟通、知识、测试等多源输入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2231136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322576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项目管理系统 需求 / 任务 / 状态流转 / 排期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2651760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743200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代码研发系统 提交 / PR / 构建 / CI/CD / 发布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3072384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163824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沟通系统 会议 / 纪要 / 飞书 / 企微 / 邮件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493008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584448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文档知识系统 Wiki / 飞书文档 / 评审记录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32122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78426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78426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644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06442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项目管理平台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06442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汇聚分析、门禁驱动、技能编排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06442" y="2231136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3018" y="2322576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数据接入与统一 统一模型、统一口径、主数据映射、关联追溯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6442" y="2651760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3018" y="2743200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门禁与规则引擎 阈值预警、状态门禁、流程规则、合规检查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06442" y="3072384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3018" y="3163824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数据分析与度量 效率、质量、体验、变更频率、协作健康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06442" y="3493008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3018" y="3584448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Skill 编排 纪要 Skill、周报 Skill、风险 Skill、复盘 Skill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24165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70469" y="1143000"/>
            <a:ext cx="3527450" cy="2907792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70469" y="1143000"/>
            <a:ext cx="352745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9848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98485" y="1536192"/>
            <a:ext cx="327141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输出与改进闭环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98485" y="1828800"/>
            <a:ext cx="327141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从看板到行动台账，再回流优化规则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98485" y="2231136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5061" y="2322576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指标看板与驾驶舱 趋势、异常、对比、预警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98485" y="2651760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5061" y="2743200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自动化报告 周报、月报、复盘报告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98485" y="3072384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5061" y="3163824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风险预警通知 延期、范围蔓延、资源冲突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298485" y="3493008"/>
            <a:ext cx="327141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5061" y="3584448"/>
            <a:ext cx="319826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改进建议 动作项、改进台账、跟踪闭环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核心表达：各系统提供数据 -&gt; AI 项目管理平台一站式汇聚 -&gt; 基于门禁规则分析度量 -&gt; 自动生成改进建议 -&gt; 闭环验证 -&gt; 持续沉淀优化。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模型运维可观测系统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研发导入路径：工具化→平台化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阶段 1：工具接入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先把 AI 工具接入日常研发动作，形成大范围可见、可感知的使用基础。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 智能助手全量部署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知识库问答系统上线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自动化测试能力增强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编码规范与模板落地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目标：覆盖 80%+ 研发人员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阶段 2：工程融合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54042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AI 嵌入 CI/CD、质量门禁与安全流程，让工具能力进入工程主链路。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54042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CI/CD 流水线集成 AI 卡点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质量门禁自动化（覆盖率 / 安全）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DevSecOps 安全扫描嵌入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规范与模板平台化沉淀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目标：交付周期缩短 20%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阶段 3：资产沉淀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39989" y="2359152"/>
            <a:ext cx="32836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将有效做法沉淀成平台资产、度量体系和最佳实践，支撑组织级复制。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9989" y="28346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组件库与脚手架平台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可复用 Prompt / Agent 仓库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企业级工程效能度量体系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最佳实践库与培训认证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目标：缺陷密度下降 30%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案例：AI 项目管理系统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078992"/>
            <a:ext cx="3657600" cy="521208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1298448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1627632"/>
            <a:ext cx="3218688" cy="3063240"/>
          </a:xfrm>
          <a:prstGeom prst="roundRect">
            <a:avLst>
              <a:gd name="adj" fmla="val 5373"/>
            </a:avLst>
          </a:prstGeom>
          <a:solidFill>
            <a:srgbClr val="F6F7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88289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以项目驾驶舱为统一入口，把需求、开发、构建、测试、质量门禁和发布监控串成闭环，支撑研发过程可视化与风险前置管理。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45152" y="1078992"/>
            <a:ext cx="6720840" cy="1078992"/>
          </a:xfrm>
          <a:prstGeom prst="roundRect">
            <a:avLst>
              <a:gd name="adj" fmla="val 15254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2588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5727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案例：AI 项目管理系统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45152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场景痛点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9744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研发项目跨角色协同复杂，进度、缺陷、构建与质量状态分散在多个工具中，管理层难以及时看到真实风险。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2340864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2478024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66176" y="272491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系统方案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299923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建设 AI 项目管理系统，统一接入需求、代码、构建、测试和发布数据，用 AI 做趋势判断、异常预警与复盘建议。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45152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9744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首页能力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9744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集中展示需求质量、缺陷密度、进度达成与看板健康度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对构建失败、缺陷波动、门禁临界值和延期风险做实时预警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支持监测、预警、根因分析、复盘分析等管理动作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01584" y="4315968"/>
            <a:ext cx="3255264" cy="1700784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66176" y="4453128"/>
            <a:ext cx="25603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66176" y="4700016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试点价值与验收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66176" y="49743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先在重点项目组试点，验收口径聚焦风险发现前移、项目透明度提升、质量问题响应缩短和复盘闭环率提升。</a:t>
            </a:r>
            <a:endParaRPr lang="en-US" sz="10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91056"/>
            <a:ext cx="318211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业务场景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围绕预测、分析、预警与流程协同，选择高价值、可复制的业务试点场景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业务识别阶段：从业务需求到 AI 改进机会的五步流程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120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62984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对齐经营目标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先明确经营指标、管理诉求和一线关注点，避免把 AI 当成孤立技术项目来讨论。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确认降本、提效、控险等目标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识别责任部门与关键角色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明确本轮不解决的问题边界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19688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4552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51648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9664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拆解流程断点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79664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沿着业务流程逐步梳理卡点、等待点和判断难点，找到真正影响效率与质量的断点。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79664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定位高频重复、依赖经验的环节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区分信息获取、判断、执行三类问题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量化当前时效、准确率和返工损失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63216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1232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判断 AI 适配度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91232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评估哪些问题适合用问答、预测、识别、推荐或自动生成来改善，而不是一股脑全做。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1232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区分规则自动化与 AI 增强场景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核对数据可得性与样本质量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识别合规、权限和人工复核要求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42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7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274784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2800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排序机会优先级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02800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从业务价值、落地难度和组织接受度三个维度综合排序，优先选择可验证、可复制的场景。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2800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比较价值、复杂度与见效周期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优先选择 quick win 试点场景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明确投入产出和协同成本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354391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09255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486351" y="1874520"/>
            <a:ext cx="2065264" cy="3337560"/>
          </a:xfrm>
          <a:prstGeom prst="roundRect">
            <a:avLst>
              <a:gd name="adj" fmla="val 79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14367" y="2029968"/>
            <a:ext cx="18092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形成试点定义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14367" y="2359152"/>
            <a:ext cx="18092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把优先场景沉淀成清晰的试点任务书，确保后续方案设计、系统建设和验收都有统一标准。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14367" y="2834640"/>
            <a:ext cx="1809232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定义试点范围、接口对象与验收口径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明确数据准备、流程改造与治理要求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输出试点路线图与推广前提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库存预测 AI 工作原理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1143000"/>
            <a:ext cx="26044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数据采集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多源业务与外部数据统一进入预测链路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2231136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322576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历史订单 销量 / 客单 / 季节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2651760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743200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 生产数据 排产 / 产线 / 节拍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3072384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163824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WMS 库存数据 实时库存 / 库龄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3493008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584448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外部数据 天气 / 节假日 / 行业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09112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555416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55416" y="1143000"/>
            <a:ext cx="26044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3432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83432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数据融合与特征工程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83432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输出训练数据集与实时推理特征向量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83432" y="2176272"/>
            <a:ext cx="234840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数据清洗与缺失值填充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特征构建：时序窗口 / 滑动平均 / 交叉特征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归一化与统一口径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8144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324448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4448" y="1143000"/>
            <a:ext cx="26044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2464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52464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模型推理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52464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预测、异常检测与补货建议协同运行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52464" y="2231136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89040" y="2322576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时序预测模型 Prophet / LSTM / LightGBM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52464" y="2651760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89040" y="2743200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异常检测模型 Isolation Forest / AutoEncoder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52464" y="3072384"/>
            <a:ext cx="2348408" cy="310896"/>
          </a:xfrm>
          <a:prstGeom prst="roundRect">
            <a:avLst>
              <a:gd name="adj" fmla="val 2941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89040" y="3163824"/>
            <a:ext cx="2275256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补货建议引擎 安全库存 -&gt; 建议补货量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47175" y="2560320"/>
            <a:ext cx="9144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093479" y="1143000"/>
            <a:ext cx="2604440" cy="2907792"/>
          </a:xfrm>
          <a:prstGeom prst="roundRect">
            <a:avLst>
              <a:gd name="adj" fmla="val 632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93479" y="1143000"/>
            <a:ext cx="26044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21495" y="1298448"/>
            <a:ext cx="2926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221495" y="1536192"/>
            <a:ext cx="234840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决策与执行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221495" y="1828800"/>
            <a:ext cx="23484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执行结果回写训练集，持续优化模型精度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221495" y="2176272"/>
            <a:ext cx="2348408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自动生成补货计划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人工审批 / 自动执行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下发 WMS 出库并实时跟踪库存水位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8638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预测准确率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1440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&gt;= 85%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66674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9476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缺货率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9476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 60%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4710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库存周转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67512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↑ 40%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427464" y="4572000"/>
            <a:ext cx="2651760" cy="868680"/>
          </a:xfrm>
          <a:prstGeom prst="roundRect">
            <a:avLst>
              <a:gd name="adj" fmla="val 1894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55480" y="470916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呆滞库存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555480" y="4937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↓ 45%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86384" y="5650992"/>
            <a:ext cx="10607040" cy="41148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2688" y="5797296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四层 pipeline + 反馈闭环：从数据采集、特征构建、模型推理到补货执行，持续回写结果优化预测能力。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业务 AI 落地能力全景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智能问答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把制度、流程、知识库接入统一问答入口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文档生成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自动生成报告、分析说明和业务草稿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预测分析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做需求、库存、质量和交期预测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流程建议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对审批、下单、补货给出下一步建议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风险预警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识别延期、缺料、异常波动等风险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闭环执行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AI 输出嵌入工单、审批和对账流程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人工确认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关键环节保留人工复核与责任归属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效果追踪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持续跟踪采纳率、命中率和节省时间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复制推广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把有效场景沉淀成模板后跨部门复制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办公场景 AI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围绕文档、纪要、知识与助手能力，构建可控、可审计、可复制的办公智能入口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办公 AI 场景与能力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文档生成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自动生成汇报、方案、纪要和制度草稿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会议纪要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自动提取结论、待办、责任人与时间节点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企业搜索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统一问答入口连接制度、知识库与历史材料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智能助理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围绕流程规则提供下一步建议与提醒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知识沉淀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把高频问题、优秀模板和案例持续沉淀复用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权限隔离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按组织、角色、数据域做访问控制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溯源审计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保留引用来源、回答记录与操作日志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统一入口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网页、IM、门户与移动端统一接入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可控自动化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高风险环节保留人工确认与审批闭环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基础设施：统一底座</a:t>
            </a:r>
            <a:endParaRPr lang="en-US" sz="2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四层统一底座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边缘与安全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安全与边缘能力贯穿全栈，保障 IT/OT 融合场景稳定可控。  ·  IT/OT 隔离与零信任架构  ·  边缘容器化部署与协议转换  ·  加密、审计、密钥管理与安全网关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平台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承接模型训练、评估、注册、发布与在线推理的全生命周期管理。  ·  训练 / 评估 / 注册 / 发布  ·  在线推理 + 批处理  ·  漂移检测、灰度发布、回滚与 A/B 实验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集成平台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负责跨系统连接、消息流转与服务编排，打通 ERP / MES / WMS / QMS / PLM / SCADA。  ·  API 网关与服务编排  ·  Kafka / RabbitMQ 消息总线  ·  ESB 企业服务总线集成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数据平台（底座基石）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为上层 AI 与集成提供统一、可信、实时的数据能力。  ·  数据湖 / 仓 / 时序 / 对象能力  ·  元数据血缘追踪与统一数据字典  ·  质量监控、告警与权限治理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人才与制度保障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组织、培训、治理如何并行？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组织角色模型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727884"/>
                <a:gridCol w="2727884"/>
                <a:gridCol w="27278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角色域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角色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职责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能力要求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业务侧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场景Owner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定义价值验收标准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领域+AI思维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业务侧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流程负责人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确保合规可追溯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流程+变革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数智侧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数据工程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采集治理特征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数据+工业协议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数智侧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ML算法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选型训练评估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ML+工业经验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数智侧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MLOps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部署监控回滚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DevOps+工程化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IT/OT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网络安全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网络/边缘/安全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工业网络+安全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IT/OT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系统集成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对接/接口/贯通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集成架构+多系统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培训认证：分层分岗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530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017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全员层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AI认知与趋势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数据安全意识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提示词规范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覆盖率&gt;=90%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3125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612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26026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4042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关键岗位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4042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场景方法论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数据治理规范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AI系统验收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54042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0618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每场景&gt;=2名认证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61720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7206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11973" y="1874520"/>
            <a:ext cx="3539642" cy="3337560"/>
          </a:xfrm>
          <a:prstGeom prst="roundRect">
            <a:avLst>
              <a:gd name="adj" fmla="val 4932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9989" y="2029968"/>
            <a:ext cx="328361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专业岗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9989" y="2377440"/>
            <a:ext cx="3283610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建模评测体系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MLOps工程化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边缘可靠性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9989" y="4809744"/>
            <a:ext cx="3283610" cy="25603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6565" y="4882896"/>
            <a:ext cx="321045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持证上岗定期复训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AI治理体系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决策机制：场景立项评审/投委会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数据制度：分级分类/授权/审计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模型制度：评测准入/变更/回滚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内容知识：入库规范/生命周期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供应商管理：SLA/交付/退出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落地推进结构：从样板验证到规模运营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" y="1115568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31673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第1层：评估与样板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280160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完成成熟度评估并统一差距基线  ·  锁定首批高ROI样板场景  ·  明确试点范围、资源与验收口径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103120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30428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第2层：复制推广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2267712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把样板方法复制到多产线、多部门  ·  同步推进研发AI与办公AI试点  ·  沉淀标准包、复制手册和治理规则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090672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91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第3层：平台建设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91840" y="3090672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255264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建设统一数据、集成与AI底座  ·  补齐权限、安全、审计与运维能力  ·  形成可复用的平台化交付方式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4078224"/>
            <a:ext cx="2331720" cy="713232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42793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第4层：规模运营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91840" y="4078224"/>
            <a:ext cx="8092440" cy="713232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242816"/>
            <a:ext cx="7635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跨工厂、跨区域持续推广复制  ·  按ROI、采纳率和闭环率做经营复盘  ·  基于成效决定后续平台化扩建节奏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12个月路线图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05840" y="1828800"/>
            <a:ext cx="9966960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39794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M01-M03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评估与样板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完成成熟度评估，锁定高 ROI 样板场景并形成首批闭环。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9533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6123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24139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0715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M04-M06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24139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复制推广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24139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把样板方法复制到多产线、多部门，同步沉淀复制手册。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59272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5862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33878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0454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M07-M09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33878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平台建设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3878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建设统一数据、集成与 AI 底座，补齐安全、审计与运维能力。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69011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15601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617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0193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M10-M12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43617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规模运营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617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跨工厂、跨区域持续推广，基于 ROI 与采纳率进行经营复盘。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478750" y="1627632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25340" y="2066544"/>
            <a:ext cx="2072579" cy="1847088"/>
          </a:xfrm>
          <a:prstGeom prst="roundRect">
            <a:avLst>
              <a:gd name="adj" fmla="val 891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53356" y="2212848"/>
            <a:ext cx="1816547" cy="21945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9932" y="2276856"/>
            <a:ext cx="1743395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M13+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753356" y="2578608"/>
            <a:ext cx="181654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持续优化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53356" y="2834640"/>
            <a:ext cx="1816547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根据效果复盘持续优化平台、规则与场景组合。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" y="4297680"/>
            <a:ext cx="3493008" cy="1060704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462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成熟度评估（M01）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4400" y="47000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数字化 + AI 成熟度评估，明确基线。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产出：评估报告 + 差距热力图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35424" y="4297680"/>
            <a:ext cx="3493008" cy="1060704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462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样板选定（M01）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663440" y="47000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选 1-2 个高价值场景作为标杆。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产出：样板场景立项书 + KPI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84464" y="4297680"/>
            <a:ext cx="3493008" cy="1060704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446227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组织启动（M01-M02）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412480" y="47000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PMO 成立 + 数据组 + AI 工作组。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产出：治理章程 + 角色定义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86384" y="5632704"/>
            <a:ext cx="10561320" cy="384048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5769864"/>
            <a:ext cx="10241280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目标：M03 前完成首个样板交付，建立信心与可复制模板。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输入与交付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78992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类别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内容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提供方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系统清单接口文档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IT/OT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数据样例字典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业务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点位表工艺卡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生产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缺陷字典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质量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输入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网络拓扑安全要求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优先级路线图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样板实施方案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基础设施方案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交付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预算ROI测算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方案团队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管理层决策建议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请在本次会议上明确批准范围、资源投入与阶段验收口径，确保项目从“讨论方案”进入“可执行立项”。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请批准本季度启动成熟度评估，并锁定首批 3 个高 ROI 样板场景：视觉质检、过程异常预警、库存预测。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请同步批准研发 AI 与办公 AI 试点，避免方案只停留在单点生产场景，形成跨部门联动示范。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请明确投入 PMO、业务专家、IT/OT 接口、安全治理与样板预算，作为样板攻坚与复制推广的前提条件。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请按 3 个节点验收：2026-09 样板验收、2026-12 复制审批、2027-03 平台化验收，未达标则回到上一阶段优化。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请要求样板阶段同步沉淀标准包、复制手册和治理规则，确保后续可复制、可审计、可持续运营。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本次请批事项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批准成熟度评估、首批样板立项、研发AI/办公AI试点，以及 PMO 与跨部门工作机制。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管理层需投入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协调业务负责人、IT/OT、质量、财务与安全团队投入时间、数据、接口和预算，保障样板快速落地。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阶段验收口径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2026-09 看样板达标，2026-12 看复制条件成熟，2027-03 看平台与治理到位，再决定跨工厂推广节奏。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"/>
            <a:ext cx="10911535" cy="585216"/>
          </a:xfrm>
          <a:prstGeom prst="roundRect">
            <a:avLst>
              <a:gd name="adj" fmla="val 21875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5760"/>
            <a:ext cx="7315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71455" y="109728"/>
            <a:ext cx="822960" cy="822960"/>
          </a:xfrm>
          <a:prstGeom prst="ellipse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18927" y="310896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30991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13287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95583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77879" y="475488"/>
            <a:ext cx="27432" cy="274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60175" y="420624"/>
            <a:ext cx="27432" cy="274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7472"/>
            <a:ext cx="9741103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下一步行动路径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1691640"/>
            <a:ext cx="10362895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823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8687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M01 评估定基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数字化与AI成熟度评估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样板场景选定与立项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PMO + 工作组组建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66796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1660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83053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1069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M02-M03 样板攻坚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11069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样板场景开发交付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标准包与复制手册沉淀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高层汇报与二期审批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0976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463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26026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4042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M04-M06 复制推广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54042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多产线多工厂复制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研发AI与办公AI同步导入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持续采集反馈优化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2742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7606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169000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7016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M07-M09 平台建设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97016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统一底座平台化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治理体系完善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培训认证体系落地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95715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0579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11973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9989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M10-M12 规模运营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39989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跨工厂跨区域复制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成本收益评估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模型持续迭代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538689" y="1444752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93553" y="1536192"/>
            <a:ext cx="219456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854946" y="1874520"/>
            <a:ext cx="1696669" cy="3337560"/>
          </a:xfrm>
          <a:prstGeom prst="roundRect">
            <a:avLst>
              <a:gd name="adj" fmla="val 970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82962" y="2029968"/>
            <a:ext cx="1440637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M13+ 持续进化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982962" y="2377440"/>
            <a:ext cx="1440637" cy="1920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行业模板输出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生态伙伴引入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自主演进能力建设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感谢聆听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以数字化为底座，以 AI 为引擎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visual-req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subject>Deck</dc:subject>
  <dc:creator>fast_ppt</dc:creator>
  <cp:lastModifiedBy>fast_ppt</cp:lastModifiedBy>
  <cp:revision>1</cp:revision>
  <dcterms:created xsi:type="dcterms:W3CDTF">2026-07-12T03:19:28Z</dcterms:created>
  <dcterms:modified xsi:type="dcterms:W3CDTF">2026-07-12T03:19:28Z</dcterms:modified>
</cp:coreProperties>
</file>